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80" r:id="rId3"/>
    <p:sldId id="279" r:id="rId4"/>
    <p:sldId id="281" r:id="rId5"/>
    <p:sldId id="278" r:id="rId6"/>
    <p:sldId id="261" r:id="rId7"/>
    <p:sldId id="258" r:id="rId8"/>
    <p:sldId id="259" r:id="rId9"/>
    <p:sldId id="273" r:id="rId10"/>
    <p:sldId id="275" r:id="rId11"/>
    <p:sldId id="274" r:id="rId12"/>
    <p:sldId id="276" r:id="rId13"/>
    <p:sldId id="277" r:id="rId14"/>
    <p:sldId id="268" r:id="rId15"/>
    <p:sldId id="269" r:id="rId16"/>
    <p:sldId id="271" r:id="rId17"/>
  </p:sldIdLst>
  <p:sldSz cx="18288000" cy="10287000"/>
  <p:notesSz cx="6858000" cy="9144000"/>
  <p:embeddedFontLst>
    <p:embeddedFont>
      <p:font typeface="Gill Sans Light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contribution is the integration of established cryptographic components in an extensible messaging prototype. It is not a claim of a new cryptographic primitive or a proof that the combined construction is secure. Full receiver decapsulation, signature verification and stronger key handling remain necessary. Source: supplied final presentation, objectives, architecture, algorithm, validation and constraints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48C8D-B9B2-CE04-350C-2FEFD409F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95CE792-0291-89AF-4553-CD2FDB51B4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73BC1-E077-E6D1-F520-4AF5D2AA7F3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F4E01D6-ED26-AA4E-8156-1461BC78E5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25A9BAA-5DBC-5438-3941-779333714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004C5-BE60-9946-84C7-1EABF75B4A2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57B87-F3F0-4E7D-D3F8-AE966B15A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8444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41A2F-A99B-6031-DE3C-31B0E2991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3CBE959-27F9-91C8-000C-EE4C91CDAD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9737F-3F72-EA30-B674-0DC64948340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FEDEF1D-AB1F-D5B8-E42A-14320E935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4714A45-25C2-415A-4F83-69DF415A5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36764-647C-590D-3B9C-3DE443E56E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89337-02D7-189B-A22F-FCE48D0487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72026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C99C1-4734-BBCC-577C-C265C0A5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E4D0FB-7E02-E060-193C-6EA12BD9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0B2C2-0399-3D14-97EB-63E0ED5082C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56940B0-A56D-3A7C-95DD-0F1EEFE38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A91BFBC-13ED-845A-B6BB-3A92C947B4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CAE653-A4B6-731B-E0F5-3457D9746A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A8A20-4BB7-86DA-099A-2690E8986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7011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D9E56-DEA3-B980-C87B-D03FBDC1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597CCBC-F9E1-F91C-646C-57F644B6F8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01B1D-C902-02B9-D77A-007CFD971AB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841A430-6BFD-D444-1973-37E9796FF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2DBC578-0F05-DAD7-8D0B-0D826CCDF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6F953-8F55-175C-B0D2-E82AD5DA28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DC8BF-A0FA-C0F6-6177-269287E0C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84569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SDG mapping describes project relevance, not a measured social impact. The open-source stack, standard-PC operation, local hosting and modular design support a qualitative cost-effectiveness argument. Actual expenditure, rupee savings, hosting prices and operating budgets were not supplied, so no financial total is asserted.</a:t>
            </a:r>
          </a:p>
          <a:p>
            <a:endParaRPr dirty="0"/>
          </a:p>
          <a:p>
            <a:r>
              <a:rPr dirty="0"/>
              <a:t>SDG sources:</a:t>
            </a:r>
          </a:p>
          <a:p>
            <a:r>
              <a:rPr dirty="0"/>
              <a:t>https://sdgs.un.org/goals/goal9</a:t>
            </a:r>
          </a:p>
          <a:p>
            <a:r>
              <a:rPr dirty="0"/>
              <a:t>https://sdgs.un.org/goals/goal16</a:t>
            </a:r>
          </a:p>
          <a:p>
            <a:endParaRPr dirty="0"/>
          </a:p>
          <a:p>
            <a:r>
              <a:rPr dirty="0"/>
              <a:t>Project evidence: supplied final presentation, feasibility, SDG and technology stack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4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1</a:t>
            </a:r>
          </a:p>
        </p:txBody>
      </p:sp>
      <p:sp>
        <p:nvSpPr>
          <p:cNvPr id="5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221992"/>
            <a:ext cx="13716000" cy="850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6600" b="0">
                <a:solidFill>
                  <a:srgbClr val="11161F"/>
                </a:solidFill>
                <a:latin typeface="Gill Sans Light"/>
              </a:rPr>
              <a:t>PQC Message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3099816"/>
            <a:ext cx="1316736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900" b="0">
                <a:solidFill>
                  <a:srgbClr val="132F59"/>
                </a:solidFill>
                <a:latin typeface="Gill Sans Light"/>
              </a:rPr>
              <a:t>Enhanced Post-Quantum Cryptography Suite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4069080"/>
            <a:ext cx="5120640" cy="25400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4480560"/>
            <a:ext cx="6400800" cy="5669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500" b="1">
                <a:solidFill>
                  <a:srgbClr val="132F59"/>
                </a:solidFill>
                <a:latin typeface="Arial"/>
              </a:rPr>
              <a:t>Team No: 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5212080"/>
            <a:ext cx="11704320" cy="53035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100" b="0" dirty="0" err="1">
                <a:solidFill>
                  <a:srgbClr val="151F2D"/>
                </a:solidFill>
                <a:latin typeface="Arial"/>
              </a:rPr>
              <a:t>Shabesh</a:t>
            </a:r>
            <a:r>
              <a:rPr sz="3100" b="0" dirty="0">
                <a:solidFill>
                  <a:srgbClr val="151F2D"/>
                </a:solidFill>
                <a:latin typeface="Arial"/>
              </a:rPr>
              <a:t> V K  (23039177205210138)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861304"/>
            <a:ext cx="11704320" cy="53035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100" b="0" dirty="0">
                <a:solidFill>
                  <a:srgbClr val="151F2D"/>
                </a:solidFill>
                <a:latin typeface="Arial"/>
              </a:rPr>
              <a:t>Nathan J  (2303917720521095)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6510528"/>
            <a:ext cx="11704320" cy="53035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100" b="0" dirty="0">
                <a:solidFill>
                  <a:srgbClr val="151F2D"/>
                </a:solidFill>
                <a:latin typeface="Arial"/>
              </a:rPr>
              <a:t>Naveen S J  (2303917720521096)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7543800"/>
            <a:ext cx="7680960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800" b="1">
                <a:solidFill>
                  <a:srgbClr val="132F59"/>
                </a:solidFill>
                <a:latin typeface="Arial"/>
              </a:rPr>
              <a:t>Project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8065008"/>
            <a:ext cx="8595360" cy="61264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400" b="0">
                <a:solidFill>
                  <a:srgbClr val="11161F"/>
                </a:solidFill>
                <a:latin typeface="Arial"/>
              </a:rPr>
              <a:t>Dr. R. Jenice Aroma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94F95-2E0F-4B44-2683-B2B13628F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Problem Statement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15361920" cy="5943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>
                <a:solidFill>
                  <a:srgbClr val="132F59"/>
                </a:solidFill>
                <a:latin typeface="Arial"/>
              </a:rPr>
              <a:t>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79776"/>
            <a:ext cx="15681959" cy="1508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400" b="0">
                <a:solidFill>
                  <a:srgbClr val="151F2D"/>
                </a:solidFill>
                <a:latin typeface="Arial"/>
              </a:rPr>
              <a:t>Secure messaging needs a practical migration path because sufficiently capable quantum computers could threaten conventional public-key cryptography.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636008"/>
            <a:ext cx="15727680" cy="61264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>
                <a:solidFill>
                  <a:srgbClr val="132F59"/>
                </a:solidFill>
                <a:latin typeface="Arial"/>
              </a:rPr>
              <a:t>Project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1225296" y="5650992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91056" y="5477256"/>
            <a:ext cx="15544800" cy="84124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151F2D"/>
                </a:solidFill>
                <a:latin typeface="Arial"/>
              </a:rPr>
              <a:t>Integrate post-quantum and classical algorithms into a usable web-messaging workflow.</a:t>
            </a:r>
          </a:p>
        </p:txBody>
      </p:sp>
      <p:sp>
        <p:nvSpPr>
          <p:cNvPr id="12" name="Oval 11"/>
          <p:cNvSpPr/>
          <p:nvPr/>
        </p:nvSpPr>
        <p:spPr>
          <a:xfrm>
            <a:off x="1225296" y="6675120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91056" y="6501384"/>
            <a:ext cx="15544800" cy="99669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151F2D"/>
                </a:solidFill>
                <a:latin typeface="Arial"/>
              </a:rPr>
              <a:t>Combine key establishment, authenticated encryption and signatures in a modular security layer.</a:t>
            </a:r>
          </a:p>
        </p:txBody>
      </p:sp>
      <p:sp>
        <p:nvSpPr>
          <p:cNvPr id="14" name="Oval 13"/>
          <p:cNvSpPr/>
          <p:nvPr/>
        </p:nvSpPr>
        <p:spPr>
          <a:xfrm>
            <a:off x="1225296" y="7882127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91056" y="7708392"/>
            <a:ext cx="15544800" cy="120700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151F2D"/>
                </a:solidFill>
                <a:latin typeface="Arial"/>
              </a:rPr>
              <a:t>Evaluate prototype functionality, sender-side cryptographic processing and deployment constraints.</a:t>
            </a:r>
          </a:p>
        </p:txBody>
      </p:sp>
    </p:spTree>
    <p:extLst>
      <p:ext uri="{BB962C8B-B14F-4D97-AF65-F5344CB8AC3E}">
        <p14:creationId xmlns:p14="http://schemas.microsoft.com/office/powerpoint/2010/main" val="3206386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E605-B645-5940-F610-B619EE067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Literature Survey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3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121408"/>
            <a:ext cx="7927848" cy="1024128"/>
          </a:xfrm>
          <a:prstGeom prst="rect">
            <a:avLst/>
          </a:prstGeom>
          <a:solidFill>
            <a:srgbClr val="2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43584" y="2189988"/>
            <a:ext cx="7543800" cy="88696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Paper / standard details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Title, author, venue and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8979408" y="2121408"/>
            <a:ext cx="8257031" cy="1024128"/>
          </a:xfrm>
          <a:prstGeom prst="rect">
            <a:avLst/>
          </a:prstGeom>
          <a:solidFill>
            <a:srgbClr val="2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71432" y="2189988"/>
            <a:ext cx="7872983" cy="88696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Observations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3145536"/>
            <a:ext cx="7927848" cy="2112264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39" y="3328416"/>
            <a:ext cx="7562088" cy="174650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[1] R. Bavdekar et al. (2022)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Post Quantum Cryptography: Techniques, Challenges, Standardization, and Directions for Future Research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arXiv:2202.02826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79408" y="3145536"/>
            <a:ext cx="8257031" cy="2112264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9720" y="3355848"/>
            <a:ext cx="7836407" cy="169164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151F2D"/>
                </a:solidFill>
                <a:latin typeface="Arial"/>
              </a:rPr>
              <a:t>Surveys quantum threats, PQC families and standardization challenges; guides the comparison of candidate cryptographic algorithms.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5257800"/>
            <a:ext cx="7927848" cy="1929384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39" y="5440680"/>
            <a:ext cx="7562088" cy="156362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[2] R. Niederhagen and M. Waidner (2017)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Practical Post-Quantum Cryptography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Fraunhofer SIT white paper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79408" y="5257800"/>
            <a:ext cx="8257031" cy="1929384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5468112"/>
            <a:ext cx="7836407" cy="1508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151F2D"/>
                </a:solidFill>
                <a:latin typeface="Arial"/>
              </a:rPr>
              <a:t>Discusses migration, compatibility and secure implementation, supporting a phased hybrid transition strategy.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7187183"/>
            <a:ext cx="7927848" cy="1993392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39" y="7370063"/>
            <a:ext cx="7562088" cy="162763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[3] F. Borges, P. R. Reis and D. Pereira (2020)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A Comparison of Security and Its Performance for Key Agreements in Post-Quantum Cryptography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IEEE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9408" y="7187183"/>
            <a:ext cx="8257031" cy="1993392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7397496"/>
            <a:ext cx="7836407" cy="157276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151F2D"/>
                </a:solidFill>
                <a:latin typeface="Arial"/>
              </a:rPr>
              <a:t>Compares security levels, key sizes and execution times, highlighting the need for multi-criteria cryptographic evaluation.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3145536"/>
            <a:ext cx="16184880" cy="16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8435" y="2121408"/>
            <a:ext cx="21945" cy="7059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8278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5AC5F-4614-013E-9412-8227D6415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Literature Survey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4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2121408"/>
            <a:ext cx="7927848" cy="1024128"/>
          </a:xfrm>
          <a:prstGeom prst="rect">
            <a:avLst/>
          </a:prstGeom>
          <a:solidFill>
            <a:srgbClr val="2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43584" y="2189988"/>
            <a:ext cx="7543800" cy="88696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Paper / standard details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Title, author, venue and year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8979408" y="2121408"/>
            <a:ext cx="8257031" cy="1024128"/>
          </a:xfrm>
          <a:prstGeom prst="rect">
            <a:avLst/>
          </a:prstGeom>
          <a:solidFill>
            <a:srgbClr val="2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71432" y="2189988"/>
            <a:ext cx="7872983" cy="88696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Observations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3145536"/>
            <a:ext cx="7927848" cy="2112264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39" y="3328416"/>
            <a:ext cx="7562088" cy="174650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[4] C. Paquin, D. Stebila and G. Tamvada (2020)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Benchmarking Post-quantum Cryptography in TLS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PQCrypto 2020, LNCS 12100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79408" y="3145536"/>
            <a:ext cx="8257031" cy="2112264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9720" y="3355848"/>
            <a:ext cx="7836407" cy="169164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151F2D"/>
                </a:solidFill>
                <a:latin typeface="Arial"/>
              </a:rPr>
              <a:t>Studies the effects of network latency and packet loss on PQC handshakes; primitive timings alone do not represent overall protocol latency.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5257800"/>
            <a:ext cx="7927848" cy="1929384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39" y="5440680"/>
            <a:ext cx="7562088" cy="156362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[5] NIST (2024), FIPS 203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Module-Lattice-Based Key-Encapsulation Mechanism Standard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79408" y="5257800"/>
            <a:ext cx="8257031" cy="1929384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20" y="5468112"/>
            <a:ext cx="7836407" cy="15087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151F2D"/>
                </a:solidFill>
                <a:latin typeface="Arial"/>
              </a:rPr>
              <a:t>Specifies ML-KEM, including ML-KEM-768; provides a standards reference for key-establishment and receiver-side decapsulation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" y="7187183"/>
            <a:ext cx="7927848" cy="1993392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39" y="7370063"/>
            <a:ext cx="7562088" cy="162763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[6] NIST (2024), FIPS 204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300" b="0">
                <a:solidFill>
                  <a:srgbClr val="151F2D"/>
                </a:solidFill>
                <a:latin typeface="Arial"/>
              </a:rPr>
              <a:t>Module-Lattice-Based Digital Signature Standard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9408" y="7187183"/>
            <a:ext cx="8257031" cy="1993392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7397496"/>
            <a:ext cx="7836407" cy="157276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600" b="0">
                <a:solidFill>
                  <a:srgbClr val="151F2D"/>
                </a:solidFill>
                <a:latin typeface="Arial"/>
              </a:rPr>
              <a:t>Specifies ML-DSA signing and verification; provides a standards reference for planned receiver-side authentication validation.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3145536"/>
            <a:ext cx="16184880" cy="165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8435" y="2121408"/>
            <a:ext cx="21945" cy="7059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40372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Stakeholder Analysis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5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2075688"/>
            <a:ext cx="3931920" cy="768096"/>
          </a:xfrm>
          <a:prstGeom prst="rect">
            <a:avLst/>
          </a:prstGeom>
          <a:solidFill>
            <a:srgbClr val="2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212848"/>
            <a:ext cx="3529584" cy="4937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Stakeholder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919472" y="2075688"/>
            <a:ext cx="5029200" cy="768096"/>
          </a:xfrm>
          <a:prstGeom prst="rect">
            <a:avLst/>
          </a:prstGeom>
          <a:solidFill>
            <a:srgbClr val="2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0" y="2212848"/>
            <a:ext cx="4626864" cy="4937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Role / interest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48672" y="2075688"/>
            <a:ext cx="7360920" cy="768096"/>
          </a:xfrm>
          <a:prstGeom prst="rect">
            <a:avLst/>
          </a:prstGeom>
          <a:solidFill>
            <a:srgbClr val="2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49840" y="2212848"/>
            <a:ext cx="6958584" cy="49377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rial"/>
              </a:rPr>
              <a:t>Expected needs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" y="2843784"/>
            <a:ext cx="3931920" cy="1307592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97864" y="3063239"/>
            <a:ext cx="351129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Military personnel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19472" y="2843784"/>
            <a:ext cx="5029200" cy="1307592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9784" y="3063239"/>
            <a:ext cx="460857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Operate secure messaging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48672" y="2843784"/>
            <a:ext cx="7360920" cy="1307592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58984" y="3063239"/>
            <a:ext cx="694029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Reliable communication and simple adoption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" y="4151376"/>
            <a:ext cx="3931920" cy="130759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97864" y="4370832"/>
            <a:ext cx="351129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Government agencies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9472" y="4151376"/>
            <a:ext cx="5029200" cy="130759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9784" y="4370832"/>
            <a:ext cx="460857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Exchange sensitive information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48672" y="4151376"/>
            <a:ext cx="7360920" cy="130759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58984" y="4370832"/>
            <a:ext cx="694029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Interoperability and long-term confidentiality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" y="5458968"/>
            <a:ext cx="3931920" cy="1307592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97864" y="5678424"/>
            <a:ext cx="351129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Security teams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9472" y="5458968"/>
            <a:ext cx="5029200" cy="1307592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9784" y="5678424"/>
            <a:ext cx="460857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Assess hybrid cryptographic controls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48672" y="5458968"/>
            <a:ext cx="7360920" cy="1307592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58984" y="5678424"/>
            <a:ext cx="694029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Test environments and review evidence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7552" y="6766559"/>
            <a:ext cx="3931920" cy="130759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97864" y="6986016"/>
            <a:ext cx="351129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Application teams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19472" y="6766559"/>
            <a:ext cx="5029200" cy="130759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9784" y="6986016"/>
            <a:ext cx="460857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Integrate APIs and cryptographic modules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48672" y="6766559"/>
            <a:ext cx="7360920" cy="130759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58984" y="6986016"/>
            <a:ext cx="694029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Clear interfaces and upgrade flexibility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7552" y="8074152"/>
            <a:ext cx="3931920" cy="1307592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97864" y="8293608"/>
            <a:ext cx="351129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Legal / compliance teams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19472" y="8074152"/>
            <a:ext cx="5029200" cy="1307592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29784" y="8293608"/>
            <a:ext cx="460857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Review applicable security standards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48672" y="8074152"/>
            <a:ext cx="7360920" cy="1307592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158984" y="8293608"/>
            <a:ext cx="6940296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800" b="0">
                <a:solidFill>
                  <a:srgbClr val="151F2D"/>
                </a:solidFill>
                <a:latin typeface="Arial"/>
              </a:rPr>
              <a:t>Traceable requirements and documentation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08499" y="2075688"/>
            <a:ext cx="21945" cy="73060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937699" y="2075688"/>
            <a:ext cx="21945" cy="73060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06886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Innovation in Proposal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6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075688"/>
            <a:ext cx="16276320" cy="61264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900" b="1">
                <a:solidFill>
                  <a:srgbClr val="132F59"/>
                </a:solidFill>
                <a:latin typeface="Arial"/>
              </a:rPr>
              <a:t>Integrated hybrid messaging design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3008376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63040" y="2834640"/>
            <a:ext cx="15819120" cy="8229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151F2D"/>
                </a:solidFill>
                <a:latin typeface="Arial"/>
              </a:rPr>
              <a:t>Combines Kyber768 and ECDH-P384 for sender-side hybrid key establishment.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977640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3803904"/>
            <a:ext cx="15819120" cy="82296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151F2D"/>
                </a:solidFill>
                <a:latin typeface="Arial"/>
              </a:rPr>
              <a:t>Encrypts messages using AES-256-GCM and generates hybrid digital signatures.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4946904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4773168"/>
            <a:ext cx="15819120" cy="9144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151F2D"/>
                </a:solidFill>
                <a:latin typeface="Arial"/>
              </a:rPr>
              <a:t>Supports registration, login, messaging and encrypted-message storage.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6025896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5852160"/>
            <a:ext cx="15819120" cy="8686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>
                <a:solidFill>
                  <a:srgbClr val="151F2D"/>
                </a:solidFill>
                <a:latin typeface="Arial"/>
              </a:rPr>
              <a:t>Modular interface, API, cryptographic and storage layers simplify future upgrades.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5568" y="6986016"/>
            <a:ext cx="16002000" cy="21590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69848" y="7324344"/>
            <a:ext cx="16184880" cy="51206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700" b="1">
                <a:solidFill>
                  <a:srgbClr val="132F59"/>
                </a:solidFill>
                <a:latin typeface="Arial"/>
              </a:rPr>
              <a:t>Research dissemination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8119871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7946136"/>
            <a:ext cx="15864840" cy="110642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0">
                <a:solidFill>
                  <a:srgbClr val="151F2D"/>
                </a:solidFill>
                <a:latin typeface="Arial"/>
              </a:rPr>
              <a:t>Prepared the ICDCN 2027 poster manuscript “A Crypto-Agile Hybrid Framework for Post-Quantum Secure Messaging” to present the system design and migration approach.</a:t>
            </a:r>
          </a:p>
        </p:txBody>
      </p:sp>
    </p:spTree>
    <p:extLst>
      <p:ext uri="{BB962C8B-B14F-4D97-AF65-F5344CB8AC3E}">
        <p14:creationId xmlns:p14="http://schemas.microsoft.com/office/powerpoint/2010/main" val="2013576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System Architecture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7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pic>
        <p:nvPicPr>
          <p:cNvPr id="7" name="System architecture flowchart" descr="qumail_diagram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6192" y="1938528"/>
            <a:ext cx="15224759" cy="70338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9052560"/>
            <a:ext cx="15910559" cy="3474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Detailed prototype: receiver-side decrypt/verify is planned; complete end-to-end validation remains pending.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Hybrid Cryptographic Algorithm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8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12848"/>
            <a:ext cx="16276320" cy="61264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300" b="0">
                <a:solidFill>
                  <a:srgbClr val="132F59"/>
                </a:solidFill>
                <a:latin typeface="Arial"/>
              </a:rPr>
              <a:t>Sender-side hybrid key establishment, authenticated encryption and signing</a:t>
            </a:r>
          </a:p>
        </p:txBody>
      </p:sp>
      <p:pic>
        <p:nvPicPr>
          <p:cNvPr id="8" name="Hybrid algorithm flowchart" descr="qumail_diagram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58768"/>
            <a:ext cx="16733520" cy="2665311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106424" y="7708392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72184" y="7534656"/>
            <a:ext cx="15910560" cy="74980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151F2D"/>
                </a:solidFill>
                <a:latin typeface="Arial"/>
              </a:rPr>
              <a:t>Kyber768 and ECDH-P384 contribute to the 256-bit session key used by AES-256-GCM.</a:t>
            </a:r>
          </a:p>
        </p:txBody>
      </p:sp>
      <p:sp>
        <p:nvSpPr>
          <p:cNvPr id="11" name="Oval 10"/>
          <p:cNvSpPr/>
          <p:nvPr/>
        </p:nvSpPr>
        <p:spPr>
          <a:xfrm>
            <a:off x="1106424" y="8540496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72184" y="8366760"/>
            <a:ext cx="15910560" cy="75895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151F2D"/>
                </a:solidFill>
                <a:latin typeface="Arial"/>
              </a:rPr>
              <a:t>Dilithium3 and ECDSA-P384 generate the sender-side authentication signatures.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BFCA2-A12C-3D39-5E1C-55C1F3C71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Technical Specifications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9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5296" y="2075688"/>
            <a:ext cx="5193792" cy="758952"/>
          </a:xfrm>
          <a:prstGeom prst="rect">
            <a:avLst/>
          </a:prstGeom>
          <a:solidFill>
            <a:srgbClr val="2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2212848"/>
            <a:ext cx="5047488" cy="48463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19088" y="2075688"/>
            <a:ext cx="4389120" cy="758952"/>
          </a:xfrm>
          <a:prstGeom prst="rect">
            <a:avLst/>
          </a:prstGeom>
          <a:solidFill>
            <a:srgbClr val="2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212848"/>
            <a:ext cx="4242816" cy="48463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Implementation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08208" y="2075688"/>
            <a:ext cx="6446520" cy="758952"/>
          </a:xfrm>
          <a:prstGeom prst="rect">
            <a:avLst/>
          </a:prstGeom>
          <a:solidFill>
            <a:srgbClr val="2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2212848"/>
            <a:ext cx="6300216" cy="48463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25296" y="2834640"/>
            <a:ext cx="5193792" cy="1005840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2990088"/>
            <a:ext cx="4901183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51F2D"/>
                </a:solidFill>
                <a:latin typeface="Arial"/>
              </a:rPr>
              <a:t>PQC Key Establishment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19088" y="2834640"/>
            <a:ext cx="4389120" cy="1005840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65392" y="2990088"/>
            <a:ext cx="4096511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0">
                <a:solidFill>
                  <a:srgbClr val="151F2D"/>
                </a:solidFill>
                <a:latin typeface="Arial"/>
              </a:rPr>
              <a:t>Kyber768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08208" y="2834640"/>
            <a:ext cx="6446520" cy="1005840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54512" y="2990088"/>
            <a:ext cx="6153912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0">
                <a:solidFill>
                  <a:srgbClr val="151F2D"/>
                </a:solidFill>
                <a:latin typeface="Arial"/>
              </a:rPr>
              <a:t>Post-quantum component of hybrid key setup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25296" y="3840480"/>
            <a:ext cx="5193792" cy="1005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3995928"/>
            <a:ext cx="4901183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51F2D"/>
                </a:solidFill>
                <a:latin typeface="Arial"/>
              </a:rPr>
              <a:t>Classical Key Exchange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9088" y="3840480"/>
            <a:ext cx="4389120" cy="1005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3995928"/>
            <a:ext cx="4096511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0">
                <a:solidFill>
                  <a:srgbClr val="151F2D"/>
                </a:solidFill>
                <a:latin typeface="Arial"/>
              </a:rPr>
              <a:t>ECDH-P384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08208" y="3840480"/>
            <a:ext cx="6446520" cy="1005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54512" y="3995928"/>
            <a:ext cx="6153912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0">
                <a:solidFill>
                  <a:srgbClr val="151F2D"/>
                </a:solidFill>
                <a:latin typeface="Arial"/>
              </a:rPr>
              <a:t>Classical shared-secret contribution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25296" y="4846320"/>
            <a:ext cx="5193792" cy="1005840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71600" y="5001768"/>
            <a:ext cx="4901183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51F2D"/>
                </a:solidFill>
                <a:latin typeface="Arial"/>
              </a:rPr>
              <a:t>Key Derivation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9088" y="4846320"/>
            <a:ext cx="4389120" cy="1005840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5001768"/>
            <a:ext cx="4096511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0">
                <a:solidFill>
                  <a:srgbClr val="151F2D"/>
                </a:solidFill>
                <a:latin typeface="Arial"/>
              </a:rPr>
              <a:t>SHA-384 → 256-bit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08208" y="4846320"/>
            <a:ext cx="6446520" cy="1005840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54512" y="5001768"/>
            <a:ext cx="6153912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0">
                <a:solidFill>
                  <a:srgbClr val="151F2D"/>
                </a:solidFill>
                <a:latin typeface="Arial"/>
              </a:rPr>
              <a:t>Symmetric session-key derivation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25296" y="5852160"/>
            <a:ext cx="5193792" cy="1005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71600" y="6007608"/>
            <a:ext cx="4901183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51F2D"/>
                </a:solidFill>
                <a:latin typeface="Arial"/>
              </a:rPr>
              <a:t>Message Encryption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9088" y="5852160"/>
            <a:ext cx="4389120" cy="1005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65392" y="6007608"/>
            <a:ext cx="4096511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0">
                <a:solidFill>
                  <a:srgbClr val="151F2D"/>
                </a:solidFill>
                <a:latin typeface="Arial"/>
              </a:rPr>
              <a:t>AES-256-GCM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08208" y="5852160"/>
            <a:ext cx="6446520" cy="1005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54512" y="6007608"/>
            <a:ext cx="6153912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0">
                <a:solidFill>
                  <a:srgbClr val="151F2D"/>
                </a:solidFill>
                <a:latin typeface="Arial"/>
              </a:rPr>
              <a:t>Confidentiality and integrity protection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25296" y="6858000"/>
            <a:ext cx="5193792" cy="1005840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71600" y="7013448"/>
            <a:ext cx="4901183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51F2D"/>
                </a:solidFill>
                <a:latin typeface="Arial"/>
              </a:rPr>
              <a:t>PQC Signature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19088" y="6858000"/>
            <a:ext cx="4389120" cy="1005840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65392" y="7013448"/>
            <a:ext cx="4096511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0">
                <a:solidFill>
                  <a:srgbClr val="151F2D"/>
                </a:solidFill>
                <a:latin typeface="Arial"/>
              </a:rPr>
              <a:t>Dilithium3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808208" y="6858000"/>
            <a:ext cx="6446520" cy="1005840"/>
          </a:xfrm>
          <a:prstGeom prst="rect">
            <a:avLst/>
          </a:prstGeom>
          <a:solidFill>
            <a:srgbClr val="E0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54512" y="7013448"/>
            <a:ext cx="6153912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0">
                <a:solidFill>
                  <a:srgbClr val="151F2D"/>
                </a:solidFill>
                <a:latin typeface="Arial"/>
              </a:rPr>
              <a:t>Sender-side post-quantum authentication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25296" y="7863840"/>
            <a:ext cx="5193792" cy="1005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71600" y="8019288"/>
            <a:ext cx="4901183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51F2D"/>
                </a:solidFill>
                <a:latin typeface="Arial"/>
              </a:rPr>
              <a:t>Classical Signature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19088" y="7863840"/>
            <a:ext cx="4389120" cy="1005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65392" y="8019288"/>
            <a:ext cx="4096511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0">
                <a:solidFill>
                  <a:srgbClr val="151F2D"/>
                </a:solidFill>
                <a:latin typeface="Arial"/>
              </a:rPr>
              <a:t>ECDSA-P384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08208" y="7863840"/>
            <a:ext cx="6446520" cy="100584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954512" y="8019288"/>
            <a:ext cx="6153912" cy="6949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700" b="0">
                <a:solidFill>
                  <a:srgbClr val="151F2D"/>
                </a:solidFill>
                <a:latin typeface="Arial"/>
              </a:rPr>
              <a:t>Sender-side classical authentication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4457" y="2075688"/>
            <a:ext cx="29260" cy="6793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793577" y="2075688"/>
            <a:ext cx="29260" cy="6793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94815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6A6DE-5650-C9EB-2972-D2AF0A8D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Interpretations &amp; Final Results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10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Chat screenshot heading"/>
          <p:cNvSpPr txBox="1"/>
          <p:nvPr/>
        </p:nvSpPr>
        <p:spPr>
          <a:xfrm>
            <a:off x="2598420" y="1989452"/>
            <a:ext cx="5199888" cy="4462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dirty="0">
                <a:solidFill>
                  <a:srgbClr val="0E2B5C"/>
                </a:solidFill>
                <a:latin typeface="Arial"/>
              </a:rPr>
              <a:t>Secure Messaging Workflow</a:t>
            </a:r>
          </a:p>
        </p:txBody>
      </p:sp>
      <p:sp>
        <p:nvSpPr>
          <p:cNvPr id="8" name="Admin screenshot heading"/>
          <p:cNvSpPr txBox="1"/>
          <p:nvPr/>
        </p:nvSpPr>
        <p:spPr>
          <a:xfrm>
            <a:off x="11353800" y="1883664"/>
            <a:ext cx="5199888" cy="4462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dirty="0">
                <a:solidFill>
                  <a:srgbClr val="0E2B5C"/>
                </a:solidFill>
                <a:latin typeface="Arial"/>
              </a:rPr>
              <a:t>Cryptographic Mode &amp; Audit</a:t>
            </a:r>
          </a:p>
        </p:txBody>
      </p:sp>
      <p:pic>
        <p:nvPicPr>
          <p:cNvPr id="9" name="Screenshot - populated secure chat" descr="active_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651244"/>
            <a:ext cx="8714232" cy="53136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41248" y="2651244"/>
            <a:ext cx="8714232" cy="5313694"/>
          </a:xfrm>
          <a:prstGeom prst="rect">
            <a:avLst/>
          </a:prstGeom>
          <a:noFill/>
          <a:ln w="17145"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Screenshot - cryptography mode and audit log" descr="crypto_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2461994"/>
            <a:ext cx="7653527" cy="569219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784080" y="2461994"/>
            <a:ext cx="7653527" cy="5692195"/>
          </a:xfrm>
          <a:prstGeom prst="rect">
            <a:avLst/>
          </a:prstGeom>
          <a:noFill/>
          <a:ln w="17145"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ption - working chat"/>
          <p:cNvSpPr txBox="1"/>
          <p:nvPr/>
        </p:nvSpPr>
        <p:spPr>
          <a:xfrm>
            <a:off x="905256" y="8247888"/>
            <a:ext cx="8549640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11161F"/>
                </a:solidFill>
                <a:latin typeface="Arial"/>
              </a:rPr>
              <a:t>Two-way messages displayed with ML-KEM labels and a selectable send mode.</a:t>
            </a:r>
          </a:p>
        </p:txBody>
      </p:sp>
      <p:sp>
        <p:nvSpPr>
          <p:cNvPr id="14" name="Caption - mode audit"/>
          <p:cNvSpPr txBox="1"/>
          <p:nvPr/>
        </p:nvSpPr>
        <p:spPr>
          <a:xfrm>
            <a:off x="9866376" y="8247888"/>
            <a:ext cx="7479792" cy="9966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11161F"/>
                </a:solidFill>
                <a:latin typeface="Arial"/>
              </a:rPr>
              <a:t>Post-quantum, classical and hybrid choices; the mode transition is recorded in the audit log.</a:t>
            </a:r>
          </a:p>
        </p:txBody>
      </p:sp>
    </p:spTree>
    <p:extLst>
      <p:ext uri="{BB962C8B-B14F-4D97-AF65-F5344CB8AC3E}">
        <p14:creationId xmlns:p14="http://schemas.microsoft.com/office/powerpoint/2010/main" val="2622007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D24BE-D5BF-E642-5632-D9304B994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Interpretations &amp; Final Results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11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Results subsection"/>
          <p:cNvSpPr txBox="1"/>
          <p:nvPr/>
        </p:nvSpPr>
        <p:spPr>
          <a:xfrm>
            <a:off x="7095743" y="1628448"/>
            <a:ext cx="4096512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0E2B5C"/>
                </a:solidFill>
                <a:latin typeface="Arial"/>
              </a:rPr>
              <a:t>Raw Benchmark Data</a:t>
            </a:r>
          </a:p>
        </p:txBody>
      </p:sp>
      <p:pic>
        <p:nvPicPr>
          <p:cNvPr id="8" name="Screenshot - full raw benchmark data" descr="raw_bench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791" y="2313432"/>
            <a:ext cx="9996417" cy="70134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45791" y="2313432"/>
            <a:ext cx="9996417" cy="7013448"/>
          </a:xfrm>
          <a:prstGeom prst="rect">
            <a:avLst/>
          </a:prstGeom>
          <a:noFill/>
          <a:ln w="17145"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96052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7EE63-78D5-765A-3963-7BF5AEB4B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6000" b="0" dirty="0">
                <a:solidFill>
                  <a:srgbClr val="11161F"/>
                </a:solidFill>
                <a:latin typeface="Gill Sans Light"/>
              </a:rPr>
              <a:t>Interpretations &amp; Final Results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12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Results subsection"/>
          <p:cNvSpPr txBox="1"/>
          <p:nvPr/>
        </p:nvSpPr>
        <p:spPr>
          <a:xfrm>
            <a:off x="6248988" y="1569196"/>
            <a:ext cx="601921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>
                <a:solidFill>
                  <a:srgbClr val="0E2B5C"/>
                </a:solidFill>
                <a:latin typeface="Arial"/>
              </a:rPr>
              <a:t>Cryptographic Performance Comparison</a:t>
            </a:r>
          </a:p>
        </p:txBody>
      </p:sp>
      <p:pic>
        <p:nvPicPr>
          <p:cNvPr id="8" name="Screenshot - benchmark performance charts" descr="benchmark_cha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699" y="2157984"/>
            <a:ext cx="10632601" cy="71780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827699" y="2157984"/>
            <a:ext cx="10632601" cy="7178040"/>
          </a:xfrm>
          <a:prstGeom prst="rect">
            <a:avLst/>
          </a:prstGeom>
          <a:noFill/>
          <a:ln w="17145">
            <a:solidFill>
              <a:srgbClr val="D3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98435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9E918-ACC8-46AD-872C-66D69F5D0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Feasibility &amp; Validation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13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9089136" y="2194560"/>
            <a:ext cx="23774" cy="20320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5" y="2084831"/>
            <a:ext cx="7726679" cy="6217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>
                <a:solidFill>
                  <a:srgbClr val="132F59"/>
                </a:solidFill>
                <a:latin typeface="Arial"/>
              </a:rPr>
              <a:t>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91472" y="2084831"/>
            <a:ext cx="7452360" cy="6217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>
                <a:solidFill>
                  <a:srgbClr val="132F59"/>
                </a:solidFill>
                <a:latin typeface="Arial"/>
              </a:rPr>
              <a:t>Validation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3209544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19" y="3035808"/>
            <a:ext cx="7452360" cy="12527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151F2D"/>
                </a:solidFill>
                <a:latin typeface="Arial"/>
              </a:rPr>
              <a:t>User registration, login and messaging are integrated in the prototype.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617720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19" y="4443983"/>
            <a:ext cx="7452360" cy="12527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151F2D"/>
                </a:solidFill>
                <a:latin typeface="Arial"/>
              </a:rPr>
              <a:t>Sender-side hybrid key establishment, encryption and signatures are implemented.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6025896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17319" y="5852160"/>
            <a:ext cx="7452360" cy="12527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151F2D"/>
                </a:solidFill>
                <a:latin typeface="Arial"/>
              </a:rPr>
              <a:t>Ciphertext and message metadata are stored using SQLite.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7434071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19" y="7260336"/>
            <a:ext cx="7452360" cy="12527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151F2D"/>
                </a:solidFill>
                <a:latin typeface="Arial"/>
              </a:rPr>
              <a:t>Local/LAN deployment is supported using Docker.</a:t>
            </a:r>
          </a:p>
        </p:txBody>
      </p:sp>
      <p:sp>
        <p:nvSpPr>
          <p:cNvPr id="18" name="Oval 17"/>
          <p:cNvSpPr/>
          <p:nvPr/>
        </p:nvSpPr>
        <p:spPr>
          <a:xfrm>
            <a:off x="9509760" y="3209544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0" y="3035808"/>
            <a:ext cx="7333488" cy="12527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151F2D"/>
                </a:solidFill>
                <a:latin typeface="Arial"/>
              </a:rPr>
              <a:t>Functional registration and messaging workflows have been demonstrated.</a:t>
            </a:r>
          </a:p>
        </p:txBody>
      </p:sp>
      <p:sp>
        <p:nvSpPr>
          <p:cNvPr id="20" name="Oval 19"/>
          <p:cNvSpPr/>
          <p:nvPr/>
        </p:nvSpPr>
        <p:spPr>
          <a:xfrm>
            <a:off x="9509760" y="4617720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4443983"/>
            <a:ext cx="7333488" cy="12527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151F2D"/>
                </a:solidFill>
                <a:latin typeface="Arial"/>
              </a:rPr>
              <a:t>Sender-side hybrid cryptographic processing has been tested.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0" y="6025896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0" y="5852160"/>
            <a:ext cx="7333488" cy="12527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151F2D"/>
                </a:solidFill>
                <a:latin typeface="Arial"/>
              </a:rPr>
              <a:t>Receiver-side PQC decapsulation and signature verification remain pending.</a:t>
            </a:r>
          </a:p>
        </p:txBody>
      </p:sp>
      <p:sp>
        <p:nvSpPr>
          <p:cNvPr id="24" name="Oval 23"/>
          <p:cNvSpPr/>
          <p:nvPr/>
        </p:nvSpPr>
        <p:spPr>
          <a:xfrm>
            <a:off x="9509760" y="7434071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0" y="7260336"/>
            <a:ext cx="7333488" cy="12527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0">
                <a:solidFill>
                  <a:srgbClr val="151F2D"/>
                </a:solidFill>
                <a:latin typeface="Arial"/>
              </a:rPr>
              <a:t>Complete end-to-end security validation is still pending.</a:t>
            </a:r>
          </a:p>
        </p:txBody>
      </p:sp>
    </p:spTree>
    <p:extLst>
      <p:ext uri="{BB962C8B-B14F-4D97-AF65-F5344CB8AC3E}">
        <p14:creationId xmlns:p14="http://schemas.microsoft.com/office/powerpoint/2010/main" val="30417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SDG Relevance &amp; Cost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14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9061704" y="2203704"/>
            <a:ext cx="27432" cy="19050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139696"/>
            <a:ext cx="7699248" cy="58521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100" b="1">
                <a:solidFill>
                  <a:srgbClr val="132F59"/>
                </a:solidFill>
                <a:latin typeface="Arial"/>
              </a:rPr>
              <a:t>SDG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788920"/>
            <a:ext cx="7708392" cy="92354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3000" b="1">
                <a:solidFill>
                  <a:srgbClr val="151F2D"/>
                </a:solidFill>
                <a:latin typeface="Arial"/>
              </a:rPr>
              <a:t>Industry, Innovation and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3922776"/>
            <a:ext cx="7708392" cy="12527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0">
                <a:solidFill>
                  <a:srgbClr val="151F2D"/>
                </a:solidFill>
                <a:latin typeface="Arial"/>
              </a:rPr>
              <a:t>Supports resilient digital infrastructure by demonstrating a practical migration path using hybrid post-quantum cryptography.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806440"/>
            <a:ext cx="7699248" cy="58521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100" b="1">
                <a:solidFill>
                  <a:srgbClr val="132F59"/>
                </a:solidFill>
                <a:latin typeface="Arial"/>
              </a:rPr>
              <a:t>SDG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6455664"/>
            <a:ext cx="7708392" cy="877824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1">
                <a:solidFill>
                  <a:srgbClr val="151F2D"/>
                </a:solidFill>
                <a:latin typeface="Arial"/>
              </a:rPr>
              <a:t>Peace, Justice and Strong Institutions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7525512"/>
            <a:ext cx="7726679" cy="112471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900" b="0">
                <a:solidFill>
                  <a:srgbClr val="151F2D"/>
                </a:solidFill>
                <a:latin typeface="Arial"/>
              </a:rPr>
              <a:t>Relates to confidentiality and privacy in sensitive institutional communication.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54896" y="2139696"/>
            <a:ext cx="7717536" cy="61264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>
                <a:solidFill>
                  <a:srgbClr val="132F59"/>
                </a:solidFill>
                <a:latin typeface="Arial"/>
              </a:rPr>
              <a:t>Cost Effectiveness</a:t>
            </a:r>
          </a:p>
        </p:txBody>
      </p:sp>
      <p:sp>
        <p:nvSpPr>
          <p:cNvPr id="15" name="Oval 14"/>
          <p:cNvSpPr/>
          <p:nvPr/>
        </p:nvSpPr>
        <p:spPr>
          <a:xfrm>
            <a:off x="9473184" y="3236976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29800" y="3063240"/>
            <a:ext cx="7461504" cy="1463040"/>
          </a:xfrm>
          <a:prstGeom prst="rect">
            <a:avLst/>
          </a:prstGeom>
          <a:noFill/>
        </p:spPr>
        <p:txBody>
          <a:bodyPr wrap="square" lIns="13716" tIns="13716" rIns="13716" bIns="13716">
            <a:noAutofit/>
          </a:bodyPr>
          <a:lstStyle/>
          <a:p>
            <a:pPr algn="l">
              <a:lnSpc>
                <a:spcPct val="111000"/>
              </a:lnSpc>
            </a:pPr>
            <a:r>
              <a:rPr sz="2900" b="1">
                <a:solidFill>
                  <a:srgbClr val="132F59"/>
                </a:solidFill>
                <a:latin typeface="Arial"/>
              </a:rPr>
              <a:t>Open-source tools: </a:t>
            </a:r>
            <a:r>
              <a:rPr sz="2900" b="0">
                <a:solidFill>
                  <a:srgbClr val="151F2D"/>
                </a:solidFill>
                <a:latin typeface="Arial"/>
              </a:rPr>
              <a:t>No proprietary software licence fees for the prototype framework and libraries.</a:t>
            </a:r>
          </a:p>
        </p:txBody>
      </p:sp>
      <p:sp>
        <p:nvSpPr>
          <p:cNvPr id="17" name="Oval 16"/>
          <p:cNvSpPr/>
          <p:nvPr/>
        </p:nvSpPr>
        <p:spPr>
          <a:xfrm>
            <a:off x="9473184" y="5138928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29800" y="4965192"/>
            <a:ext cx="7461504" cy="1472184"/>
          </a:xfrm>
          <a:prstGeom prst="rect">
            <a:avLst/>
          </a:prstGeom>
          <a:noFill/>
        </p:spPr>
        <p:txBody>
          <a:bodyPr wrap="square" lIns="13716" tIns="13716" rIns="13716" bIns="13716">
            <a:noAutofit/>
          </a:bodyPr>
          <a:lstStyle/>
          <a:p>
            <a:pPr algn="l">
              <a:lnSpc>
                <a:spcPct val="111000"/>
              </a:lnSpc>
            </a:pPr>
            <a:r>
              <a:rPr sz="2900" b="1">
                <a:solidFill>
                  <a:srgbClr val="132F59"/>
                </a:solidFill>
                <a:latin typeface="Arial"/>
              </a:rPr>
              <a:t>Existing hardware: </a:t>
            </a:r>
            <a:r>
              <a:rPr sz="2900" b="0">
                <a:solidFill>
                  <a:srgbClr val="151F2D"/>
                </a:solidFill>
                <a:latin typeface="Arial"/>
              </a:rPr>
              <a:t>Runs on general-purpose computers without specialized cryptographic accelerators.</a:t>
            </a:r>
          </a:p>
        </p:txBody>
      </p:sp>
      <p:sp>
        <p:nvSpPr>
          <p:cNvPr id="19" name="Oval 18"/>
          <p:cNvSpPr/>
          <p:nvPr/>
        </p:nvSpPr>
        <p:spPr>
          <a:xfrm>
            <a:off x="9473184" y="7040880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29800" y="6867144"/>
            <a:ext cx="7461504" cy="1472184"/>
          </a:xfrm>
          <a:prstGeom prst="rect">
            <a:avLst/>
          </a:prstGeom>
          <a:noFill/>
        </p:spPr>
        <p:txBody>
          <a:bodyPr wrap="square" lIns="13716" tIns="13716" rIns="13716" bIns="13716">
            <a:noAutofit/>
          </a:bodyPr>
          <a:lstStyle/>
          <a:p>
            <a:pPr algn="l">
              <a:lnSpc>
                <a:spcPct val="111000"/>
              </a:lnSpc>
            </a:pPr>
            <a:r>
              <a:rPr sz="2900" b="1">
                <a:solidFill>
                  <a:srgbClr val="132F59"/>
                </a:solidFill>
                <a:latin typeface="Arial"/>
              </a:rPr>
              <a:t>Local deployment: </a:t>
            </a:r>
            <a:r>
              <a:rPr sz="2900" b="0">
                <a:solidFill>
                  <a:srgbClr val="151F2D"/>
                </a:solidFill>
                <a:latin typeface="Arial"/>
              </a:rPr>
              <a:t>Docker/LAN demonstrations avoid recurring public-cloud hosting charges.</a:t>
            </a:r>
          </a:p>
        </p:txBody>
      </p:sp>
    </p:spTree>
    <p:extLst>
      <p:ext uri="{BB962C8B-B14F-4D97-AF65-F5344CB8AC3E}">
        <p14:creationId xmlns:p14="http://schemas.microsoft.com/office/powerpoint/2010/main" val="411576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Conclusion &amp; Future Work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15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29968"/>
            <a:ext cx="16093440" cy="57607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>
                <a:solidFill>
                  <a:srgbClr val="132F59"/>
                </a:solidFill>
                <a:latin typeface="Arial"/>
              </a:rPr>
              <a:t>Conclusion</a:t>
            </a:r>
          </a:p>
        </p:txBody>
      </p:sp>
      <p:sp>
        <p:nvSpPr>
          <p:cNvPr id="8" name="Oval 7"/>
          <p:cNvSpPr/>
          <p:nvPr/>
        </p:nvSpPr>
        <p:spPr>
          <a:xfrm>
            <a:off x="1088136" y="2935224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53895" y="2761488"/>
            <a:ext cx="15636240" cy="63093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0">
                <a:solidFill>
                  <a:srgbClr val="151F2D"/>
                </a:solidFill>
                <a:latin typeface="Arial"/>
              </a:rPr>
              <a:t>Built QuMail using React, Rust/Actix-Web, SQLite and Docker for encrypted messaging.</a:t>
            </a:r>
          </a:p>
        </p:txBody>
      </p:sp>
      <p:sp>
        <p:nvSpPr>
          <p:cNvPr id="10" name="Oval 9"/>
          <p:cNvSpPr/>
          <p:nvPr/>
        </p:nvSpPr>
        <p:spPr>
          <a:xfrm>
            <a:off x="1088136" y="3648456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53895" y="3474720"/>
            <a:ext cx="15636240" cy="63093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0">
                <a:solidFill>
                  <a:srgbClr val="151F2D"/>
                </a:solidFill>
                <a:latin typeface="Arial"/>
              </a:rPr>
              <a:t>Combined Kyber768 + ECDH-P384 key establishment with AES-256-GCM message protection.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1088136" y="4361688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53895" y="4187952"/>
            <a:ext cx="15636240" cy="63093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0">
                <a:solidFill>
                  <a:srgbClr val="151F2D"/>
                </a:solidFill>
                <a:latin typeface="Arial"/>
              </a:rPr>
              <a:t>Added Dilithium3 + ECDSA-P384 signatures and tested sender-side cryptographic processing.</a:t>
            </a:r>
          </a:p>
        </p:txBody>
      </p:sp>
      <p:sp>
        <p:nvSpPr>
          <p:cNvPr id="14" name="Oval 13"/>
          <p:cNvSpPr/>
          <p:nvPr/>
        </p:nvSpPr>
        <p:spPr>
          <a:xfrm>
            <a:off x="1088136" y="5074920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53895" y="4901184"/>
            <a:ext cx="15636240" cy="63093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0">
                <a:solidFill>
                  <a:srgbClr val="151F2D"/>
                </a:solidFill>
                <a:latin typeface="Arial"/>
              </a:rPr>
              <a:t>Prepared an ICDCN 2027 poster manuscript describing the crypto-agile hybrid framework.</a:t>
            </a:r>
          </a:p>
        </p:txBody>
      </p:sp>
      <p:sp>
        <p:nvSpPr>
          <p:cNvPr id="16" name="Oval 15"/>
          <p:cNvSpPr/>
          <p:nvPr/>
        </p:nvSpPr>
        <p:spPr>
          <a:xfrm>
            <a:off x="1088136" y="5788152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53895" y="5614416"/>
            <a:ext cx="15636240" cy="63093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0">
                <a:solidFill>
                  <a:srgbClr val="151F2D"/>
                </a:solidFill>
                <a:latin typeface="Arial"/>
              </a:rPr>
              <a:t>Demonstrated sender-side processing; complete receiver-side verification remains pending.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33856" y="6437376"/>
            <a:ext cx="15910559" cy="16510"/>
          </a:xfrm>
          <a:prstGeom prst="rect">
            <a:avLst/>
          </a:prstGeom>
          <a:solidFill>
            <a:srgbClr val="CCD9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6601968"/>
            <a:ext cx="16093440" cy="585216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>
                <a:solidFill>
                  <a:srgbClr val="132F59"/>
                </a:solidFill>
                <a:latin typeface="Arial"/>
              </a:rPr>
              <a:t>Future Work</a:t>
            </a:r>
          </a:p>
        </p:txBody>
      </p:sp>
      <p:sp>
        <p:nvSpPr>
          <p:cNvPr id="20" name="Oval 19"/>
          <p:cNvSpPr/>
          <p:nvPr/>
        </p:nvSpPr>
        <p:spPr>
          <a:xfrm>
            <a:off x="1088136" y="7470648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53895" y="7296912"/>
            <a:ext cx="15636240" cy="6400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0">
                <a:solidFill>
                  <a:srgbClr val="151F2D"/>
                </a:solidFill>
                <a:latin typeface="Arial"/>
              </a:rPr>
              <a:t>Complete receiver-side decapsulation, signature verification and end-to-end security testing.</a:t>
            </a:r>
          </a:p>
        </p:txBody>
      </p:sp>
      <p:sp>
        <p:nvSpPr>
          <p:cNvPr id="22" name="Oval 21"/>
          <p:cNvSpPr/>
          <p:nvPr/>
        </p:nvSpPr>
        <p:spPr>
          <a:xfrm>
            <a:off x="1088136" y="8229600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53895" y="8055864"/>
            <a:ext cx="15636240" cy="64008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0">
                <a:solidFill>
                  <a:srgbClr val="151F2D"/>
                </a:solidFill>
                <a:latin typeface="Arial"/>
              </a:rPr>
              <a:t>Introduce Zero-Trust authentication and least-privilege access controls.</a:t>
            </a:r>
          </a:p>
        </p:txBody>
      </p:sp>
      <p:sp>
        <p:nvSpPr>
          <p:cNvPr id="24" name="Oval 23"/>
          <p:cNvSpPr/>
          <p:nvPr/>
        </p:nvSpPr>
        <p:spPr>
          <a:xfrm>
            <a:off x="1088136" y="8988552"/>
            <a:ext cx="118872" cy="118872"/>
          </a:xfrm>
          <a:prstGeom prst="ellipse">
            <a:avLst/>
          </a:prstGeom>
          <a:solidFill>
            <a:srgbClr val="132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53895" y="8814816"/>
            <a:ext cx="15636240" cy="566928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900" b="0">
                <a:solidFill>
                  <a:srgbClr val="151F2D"/>
                </a:solidFill>
                <a:latin typeface="Arial"/>
              </a:rPr>
              <a:t>Optimize performance, scalability and deployment readiness.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CE logo - master aligned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032"/>
            <a:ext cx="1737360" cy="1627632"/>
          </a:xfrm>
          <a:prstGeom prst="rect">
            <a:avLst/>
          </a:prstGeom>
        </p:spPr>
      </p:pic>
      <p:sp>
        <p:nvSpPr>
          <p:cNvPr id="3" name="MASTER TITLE - Gill Sans Light 60pt"/>
          <p:cNvSpPr txBox="1"/>
          <p:nvPr/>
        </p:nvSpPr>
        <p:spPr>
          <a:xfrm>
            <a:off x="2386584" y="512064"/>
            <a:ext cx="13514832" cy="11704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000" b="0">
                <a:solidFill>
                  <a:srgbClr val="11161F"/>
                </a:solidFill>
                <a:latin typeface="Gill Sans Light"/>
              </a:rPr>
              <a:t>References</a:t>
            </a:r>
          </a:p>
        </p:txBody>
      </p:sp>
      <p:sp>
        <p:nvSpPr>
          <p:cNvPr id="4" name="FOOTER date"/>
          <p:cNvSpPr txBox="1"/>
          <p:nvPr/>
        </p:nvSpPr>
        <p:spPr>
          <a:xfrm>
            <a:off x="658368" y="9665208"/>
            <a:ext cx="51206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 October 2026</a:t>
            </a:r>
          </a:p>
        </p:txBody>
      </p:sp>
      <p:sp>
        <p:nvSpPr>
          <p:cNvPr id="5" name="FOOTER page number"/>
          <p:cNvSpPr txBox="1"/>
          <p:nvPr/>
        </p:nvSpPr>
        <p:spPr>
          <a:xfrm>
            <a:off x="8412480" y="9665208"/>
            <a:ext cx="146304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16</a:t>
            </a:r>
          </a:p>
        </p:txBody>
      </p:sp>
      <p:sp>
        <p:nvSpPr>
          <p:cNvPr id="6" name="FOOTER review label"/>
          <p:cNvSpPr txBox="1"/>
          <p:nvPr/>
        </p:nvSpPr>
        <p:spPr>
          <a:xfrm>
            <a:off x="11996928" y="9665208"/>
            <a:ext cx="5715000" cy="393192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r">
              <a:lnSpc>
                <a:spcPct val="106000"/>
              </a:lnSpc>
              <a:spcAft>
                <a:spcPts val="0"/>
              </a:spcAft>
            </a:pPr>
            <a:r>
              <a:rPr sz="2200" b="0">
                <a:solidFill>
                  <a:srgbClr val="727E90"/>
                </a:solidFill>
                <a:latin typeface="Arial"/>
              </a:rPr>
              <a:t>22IT790 - Final Project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12848"/>
            <a:ext cx="576072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32F59"/>
                </a:solidFill>
                <a:latin typeface="Arial"/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36776" y="2212848"/>
            <a:ext cx="7223760" cy="1600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51F2D"/>
                </a:solidFill>
                <a:latin typeface="Arial"/>
              </a:rPr>
              <a:t>R. Bavdekar et al., “Post Quantum Cryptography: Techniques, Challenges, Standardization, and Directions for Future Research,” arXiv:2202.02826, 2022.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86783"/>
            <a:ext cx="576072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32F59"/>
                </a:solidFill>
                <a:latin typeface="Arial"/>
              </a:rPr>
              <a:t>[2]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6776" y="3986783"/>
            <a:ext cx="7223760" cy="1600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51F2D"/>
                </a:solidFill>
                <a:latin typeface="Arial"/>
              </a:rPr>
              <a:t>R. Niederhagen and M. Waidner, “Practical Post-Quantum Cryptography,” Fraunhofer SIT white paper, 2017.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760720"/>
            <a:ext cx="576072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32F59"/>
                </a:solidFill>
                <a:latin typeface="Arial"/>
              </a:rPr>
              <a:t>[3]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6776" y="5760720"/>
            <a:ext cx="7223760" cy="1600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51F2D"/>
                </a:solidFill>
                <a:latin typeface="Arial"/>
              </a:rPr>
              <a:t>F. Borges, P. R. Reis and D. Pereira, “A Comparison of Security and Its Performance for Key Agreements in Post-Quantum Cryptography,” IEEE Access, 2020. DOI: 10.1109/ACCESS.2020.3013250.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7534656"/>
            <a:ext cx="576072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32F59"/>
                </a:solidFill>
                <a:latin typeface="Arial"/>
              </a:rPr>
              <a:t>[4]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6776" y="7534656"/>
            <a:ext cx="7223760" cy="1600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51F2D"/>
                </a:solidFill>
                <a:latin typeface="Arial"/>
              </a:rPr>
              <a:t>C. Paquin, D. Stebila and G. Tamvada, “Benchmarking Post-quantum Cryptography in TLS,” PQCrypto 2020, LNCS 12100, pp. 72–91.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2212848"/>
            <a:ext cx="576072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32F59"/>
                </a:solidFill>
                <a:latin typeface="Arial"/>
              </a:rPr>
              <a:t>[5]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39528" y="2212848"/>
            <a:ext cx="7223760" cy="1600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51F2D"/>
                </a:solidFill>
                <a:latin typeface="Arial"/>
              </a:rPr>
              <a:t>NIST, “Module-Lattice-Based Key-Encapsulation Mechanism Standard,” FIPS 203, 2024. doi:10.6028/NIST.FIPS.203.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3986783"/>
            <a:ext cx="576072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32F59"/>
                </a:solidFill>
                <a:latin typeface="Arial"/>
              </a:rPr>
              <a:t>[6]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39528" y="3986783"/>
            <a:ext cx="7223760" cy="1600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51F2D"/>
                </a:solidFill>
                <a:latin typeface="Arial"/>
              </a:rPr>
              <a:t>NIST, “Module-Lattice-Based Digital Signature Standard,” FIPS 204, 2024. doi:10.6028/NIST.FIPS.204.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5760720"/>
            <a:ext cx="576072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32F59"/>
                </a:solidFill>
                <a:latin typeface="Arial"/>
              </a:rPr>
              <a:t>[7]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39528" y="5760720"/>
            <a:ext cx="7223760" cy="1600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51F2D"/>
                </a:solidFill>
                <a:latin typeface="Arial"/>
              </a:rPr>
              <a:t>NIST Computer Security Resource Center, “Post-Quantum Cryptography” project, csrc.nist.gov/projects/post-quantum-cryptography.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7534656"/>
            <a:ext cx="576072" cy="457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2700" b="1">
                <a:solidFill>
                  <a:srgbClr val="132F59"/>
                </a:solidFill>
                <a:latin typeface="Arial"/>
              </a:rPr>
              <a:t>[8]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528" y="7534656"/>
            <a:ext cx="7223760" cy="1600200"/>
          </a:xfrm>
          <a:prstGeom prst="rect">
            <a:avLst/>
          </a:prstGeom>
          <a:noFill/>
        </p:spPr>
        <p:txBody>
          <a:bodyPr wrap="square" lIns="13716" tIns="13716" rIns="13716" bIns="13716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>
                <a:solidFill>
                  <a:srgbClr val="151F2D"/>
                </a:solidFill>
                <a:latin typeface="Arial"/>
              </a:rPr>
              <a:t>Indian Patent Office, Public Search portal, iprsearch.ipindia.gov.in (prior-art search resource).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1475</Words>
  <Application>Microsoft Office PowerPoint</Application>
  <PresentationFormat>Custom</PresentationFormat>
  <Paragraphs>233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Gill Sans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1 - Final PPT.pptx</dc:title>
  <dc:creator>Nathan</dc:creator>
  <cp:lastModifiedBy>Nathan Jerald</cp:lastModifiedBy>
  <cp:revision>7</cp:revision>
  <dcterms:created xsi:type="dcterms:W3CDTF">2006-08-16T00:00:00Z</dcterms:created>
  <dcterms:modified xsi:type="dcterms:W3CDTF">2026-10-19T10:20:32Z</dcterms:modified>
  <dc:identifier>DAHQQgq0k0g</dc:identifier>
</cp:coreProperties>
</file>